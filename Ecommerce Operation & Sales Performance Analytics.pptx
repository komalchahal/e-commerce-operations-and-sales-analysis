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7"/>
  </p:notesMasterIdLst>
  <p:sldIdLst>
    <p:sldId id="256" r:id="rId2"/>
    <p:sldId id="268" r:id="rId3"/>
    <p:sldId id="270" r:id="rId4"/>
    <p:sldId id="257" r:id="rId5"/>
    <p:sldId id="259" r:id="rId6"/>
    <p:sldId id="258" r:id="rId7"/>
    <p:sldId id="260" r:id="rId8"/>
    <p:sldId id="261" r:id="rId9"/>
    <p:sldId id="262" r:id="rId10"/>
    <p:sldId id="263" r:id="rId11"/>
    <p:sldId id="264" r:id="rId12"/>
    <p:sldId id="271" r:id="rId13"/>
    <p:sldId id="266" r:id="rId14"/>
    <p:sldId id="267"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6B4FCF-15B0-475F-80CF-B8D9CCBFE56D}" type="datetimeFigureOut">
              <a:rPr lang="en-IN" smtClean="0"/>
              <a:t>21-03-2026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0C5E09-18D5-4BED-8835-EA6044FAAD4F}" type="slidenum">
              <a:rPr lang="en-IN" smtClean="0"/>
              <a:t>‹#›</a:t>
            </a:fld>
            <a:endParaRPr lang="en-IN"/>
          </a:p>
        </p:txBody>
      </p:sp>
    </p:spTree>
    <p:extLst>
      <p:ext uri="{BB962C8B-B14F-4D97-AF65-F5344CB8AC3E}">
        <p14:creationId xmlns:p14="http://schemas.microsoft.com/office/powerpoint/2010/main" val="3271614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0C5E09-18D5-4BED-8835-EA6044FAAD4F}" type="slidenum">
              <a:rPr lang="en-IN" smtClean="0"/>
              <a:t>6</a:t>
            </a:fld>
            <a:endParaRPr lang="en-IN"/>
          </a:p>
        </p:txBody>
      </p:sp>
    </p:spTree>
    <p:extLst>
      <p:ext uri="{BB962C8B-B14F-4D97-AF65-F5344CB8AC3E}">
        <p14:creationId xmlns:p14="http://schemas.microsoft.com/office/powerpoint/2010/main" val="594285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5D555F-6270-47C3-AD58-A32C1351004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23821-DD43-4D23-A1F6-C29F64E7A452}"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0472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5D555F-6270-47C3-AD58-A32C1351004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23821-DD43-4D23-A1F6-C29F64E7A452}" type="slidenum">
              <a:rPr lang="en-IN" smtClean="0"/>
              <a:t>‹#›</a:t>
            </a:fld>
            <a:endParaRPr lang="en-IN"/>
          </a:p>
        </p:txBody>
      </p:sp>
    </p:spTree>
    <p:extLst>
      <p:ext uri="{BB962C8B-B14F-4D97-AF65-F5344CB8AC3E}">
        <p14:creationId xmlns:p14="http://schemas.microsoft.com/office/powerpoint/2010/main" val="2004036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5D555F-6270-47C3-AD58-A32C1351004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23821-DD43-4D23-A1F6-C29F64E7A452}" type="slidenum">
              <a:rPr lang="en-IN" smtClean="0"/>
              <a:t>‹#›</a:t>
            </a:fld>
            <a:endParaRPr lang="en-IN"/>
          </a:p>
        </p:txBody>
      </p:sp>
    </p:spTree>
    <p:extLst>
      <p:ext uri="{BB962C8B-B14F-4D97-AF65-F5344CB8AC3E}">
        <p14:creationId xmlns:p14="http://schemas.microsoft.com/office/powerpoint/2010/main" val="812861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5D555F-6270-47C3-AD58-A32C13510045}" type="datetimeFigureOut">
              <a:rPr lang="en-IN" smtClean="0"/>
              <a:t>21-03-2026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C23821-DD43-4D23-A1F6-C29F64E7A452}" type="slidenum">
              <a:rPr lang="en-IN" smtClean="0"/>
              <a:t>‹#›</a:t>
            </a:fld>
            <a:endParaRPr lang="en-IN"/>
          </a:p>
        </p:txBody>
      </p:sp>
    </p:spTree>
    <p:extLst>
      <p:ext uri="{BB962C8B-B14F-4D97-AF65-F5344CB8AC3E}">
        <p14:creationId xmlns:p14="http://schemas.microsoft.com/office/powerpoint/2010/main" val="575743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5D555F-6270-47C3-AD58-A32C13510045}" type="datetimeFigureOut">
              <a:rPr lang="en-IN" smtClean="0"/>
              <a:t>21-03-2026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4C23821-DD43-4D23-A1F6-C29F64E7A452}" type="slidenum">
              <a:rPr lang="en-IN" smtClean="0"/>
              <a:t>‹#›</a:t>
            </a:fld>
            <a:endParaRPr lang="en-IN"/>
          </a:p>
        </p:txBody>
      </p:sp>
    </p:spTree>
    <p:extLst>
      <p:ext uri="{BB962C8B-B14F-4D97-AF65-F5344CB8AC3E}">
        <p14:creationId xmlns:p14="http://schemas.microsoft.com/office/powerpoint/2010/main" val="4089130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5D555F-6270-47C3-AD58-A32C13510045}" type="datetimeFigureOut">
              <a:rPr lang="en-IN" smtClean="0"/>
              <a:t>21-03-2026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4C23821-DD43-4D23-A1F6-C29F64E7A452}" type="slidenum">
              <a:rPr lang="en-IN" smtClean="0"/>
              <a:t>‹#›</a:t>
            </a:fld>
            <a:endParaRPr lang="en-IN"/>
          </a:p>
        </p:txBody>
      </p:sp>
    </p:spTree>
    <p:extLst>
      <p:ext uri="{BB962C8B-B14F-4D97-AF65-F5344CB8AC3E}">
        <p14:creationId xmlns:p14="http://schemas.microsoft.com/office/powerpoint/2010/main" val="951063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5D555F-6270-47C3-AD58-A32C13510045}" type="datetimeFigureOut">
              <a:rPr lang="en-IN" smtClean="0"/>
              <a:t>21-03-2026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4C23821-DD43-4D23-A1F6-C29F64E7A452}" type="slidenum">
              <a:rPr lang="en-IN" smtClean="0"/>
              <a:t>‹#›</a:t>
            </a:fld>
            <a:endParaRPr lang="en-IN"/>
          </a:p>
        </p:txBody>
      </p:sp>
    </p:spTree>
    <p:extLst>
      <p:ext uri="{BB962C8B-B14F-4D97-AF65-F5344CB8AC3E}">
        <p14:creationId xmlns:p14="http://schemas.microsoft.com/office/powerpoint/2010/main" val="1252497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5D555F-6270-47C3-AD58-A32C13510045}" type="datetimeFigureOut">
              <a:rPr lang="en-IN" smtClean="0"/>
              <a:t>21-03-2026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C23821-DD43-4D23-A1F6-C29F64E7A452}" type="slidenum">
              <a:rPr lang="en-IN" smtClean="0"/>
              <a:t>‹#›</a:t>
            </a:fld>
            <a:endParaRPr lang="en-IN"/>
          </a:p>
        </p:txBody>
      </p:sp>
    </p:spTree>
    <p:extLst>
      <p:ext uri="{BB962C8B-B14F-4D97-AF65-F5344CB8AC3E}">
        <p14:creationId xmlns:p14="http://schemas.microsoft.com/office/powerpoint/2010/main" val="1678053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5D555F-6270-47C3-AD58-A32C13510045}" type="datetimeFigureOut">
              <a:rPr lang="en-IN" smtClean="0"/>
              <a:t>21-03-2026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C23821-DD43-4D23-A1F6-C29F64E7A452}" type="slidenum">
              <a:rPr lang="en-IN" smtClean="0"/>
              <a:t>‹#›</a:t>
            </a:fld>
            <a:endParaRPr lang="en-IN"/>
          </a:p>
        </p:txBody>
      </p:sp>
    </p:spTree>
    <p:extLst>
      <p:ext uri="{BB962C8B-B14F-4D97-AF65-F5344CB8AC3E}">
        <p14:creationId xmlns:p14="http://schemas.microsoft.com/office/powerpoint/2010/main" val="3309377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0D5D555F-6270-47C3-AD58-A32C13510045}" type="datetimeFigureOut">
              <a:rPr lang="en-IN" smtClean="0"/>
              <a:t>21-03-2026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4C23821-DD43-4D23-A1F6-C29F64E7A452}" type="slidenum">
              <a:rPr lang="en-IN" smtClean="0"/>
              <a:t>‹#›</a:t>
            </a:fld>
            <a:endParaRPr lang="en-IN"/>
          </a:p>
        </p:txBody>
      </p:sp>
    </p:spTree>
    <p:extLst>
      <p:ext uri="{BB962C8B-B14F-4D97-AF65-F5344CB8AC3E}">
        <p14:creationId xmlns:p14="http://schemas.microsoft.com/office/powerpoint/2010/main" val="45925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5D555F-6270-47C3-AD58-A32C1351004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23821-DD43-4D23-A1F6-C29F64E7A452}" type="slidenum">
              <a:rPr lang="en-IN" smtClean="0"/>
              <a:t>‹#›</a:t>
            </a:fld>
            <a:endParaRPr lang="en-IN"/>
          </a:p>
        </p:txBody>
      </p:sp>
    </p:spTree>
    <p:extLst>
      <p:ext uri="{BB962C8B-B14F-4D97-AF65-F5344CB8AC3E}">
        <p14:creationId xmlns:p14="http://schemas.microsoft.com/office/powerpoint/2010/main" val="3154484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5D555F-6270-47C3-AD58-A32C1351004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23821-DD43-4D23-A1F6-C29F64E7A452}"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2676820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5D555F-6270-47C3-AD58-A32C1351004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23821-DD43-4D23-A1F6-C29F64E7A452}" type="slidenum">
              <a:rPr lang="en-IN" smtClean="0"/>
              <a:t>‹#›</a:t>
            </a:fld>
            <a:endParaRPr lang="en-IN"/>
          </a:p>
        </p:txBody>
      </p:sp>
    </p:spTree>
    <p:extLst>
      <p:ext uri="{BB962C8B-B14F-4D97-AF65-F5344CB8AC3E}">
        <p14:creationId xmlns:p14="http://schemas.microsoft.com/office/powerpoint/2010/main" val="2529823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5D555F-6270-47C3-AD58-A32C1351004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23821-DD43-4D23-A1F6-C29F64E7A452}"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933562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5D555F-6270-47C3-AD58-A32C1351004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23821-DD43-4D23-A1F6-C29F64E7A452}" type="slidenum">
              <a:rPr lang="en-IN" smtClean="0"/>
              <a:t>‹#›</a:t>
            </a:fld>
            <a:endParaRPr lang="en-IN"/>
          </a:p>
        </p:txBody>
      </p:sp>
    </p:spTree>
    <p:extLst>
      <p:ext uri="{BB962C8B-B14F-4D97-AF65-F5344CB8AC3E}">
        <p14:creationId xmlns:p14="http://schemas.microsoft.com/office/powerpoint/2010/main" val="37804329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5D555F-6270-47C3-AD58-A32C1351004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23821-DD43-4D23-A1F6-C29F64E7A452}" type="slidenum">
              <a:rPr lang="en-IN" smtClean="0"/>
              <a:t>‹#›</a:t>
            </a:fld>
            <a:endParaRPr lang="en-IN"/>
          </a:p>
        </p:txBody>
      </p:sp>
    </p:spTree>
    <p:extLst>
      <p:ext uri="{BB962C8B-B14F-4D97-AF65-F5344CB8AC3E}">
        <p14:creationId xmlns:p14="http://schemas.microsoft.com/office/powerpoint/2010/main" val="640637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5D555F-6270-47C3-AD58-A32C1351004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23821-DD43-4D23-A1F6-C29F64E7A452}" type="slidenum">
              <a:rPr lang="en-IN" smtClean="0"/>
              <a:t>‹#›</a:t>
            </a:fld>
            <a:endParaRPr lang="en-IN"/>
          </a:p>
        </p:txBody>
      </p:sp>
    </p:spTree>
    <p:extLst>
      <p:ext uri="{BB962C8B-B14F-4D97-AF65-F5344CB8AC3E}">
        <p14:creationId xmlns:p14="http://schemas.microsoft.com/office/powerpoint/2010/main" val="233263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0D5D555F-6270-47C3-AD58-A32C13510045}" type="datetimeFigureOut">
              <a:rPr lang="en-IN" smtClean="0"/>
              <a:t>21-03-2026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94C23821-DD43-4D23-A1F6-C29F64E7A452}" type="slidenum">
              <a:rPr lang="en-IN" smtClean="0"/>
              <a:t>‹#›</a:t>
            </a:fld>
            <a:endParaRPr lang="en-IN"/>
          </a:p>
        </p:txBody>
      </p:sp>
    </p:spTree>
    <p:extLst>
      <p:ext uri="{BB962C8B-B14F-4D97-AF65-F5344CB8AC3E}">
        <p14:creationId xmlns:p14="http://schemas.microsoft.com/office/powerpoint/2010/main" val="3469388631"/>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linkedin.com/in/komal-chahal-242024244/" TargetMode="External"/><Relationship Id="rId2" Type="http://schemas.openxmlformats.org/officeDocument/2006/relationships/hyperlink" Target="mailto:komalchahal2632@gmail.com" TargetMode="External"/><Relationship Id="rId1" Type="http://schemas.openxmlformats.org/officeDocument/2006/relationships/slideLayout" Target="../slideLayouts/slideLayout1.xml"/><Relationship Id="rId4" Type="http://schemas.openxmlformats.org/officeDocument/2006/relationships/hyperlink" Target="https://github.com/komalchah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23747-5EBA-BC71-1C01-F8BF0A48AD99}"/>
              </a:ext>
            </a:extLst>
          </p:cNvPr>
          <p:cNvSpPr>
            <a:spLocks noGrp="1"/>
          </p:cNvSpPr>
          <p:nvPr>
            <p:ph type="ctrTitle"/>
          </p:nvPr>
        </p:nvSpPr>
        <p:spPr/>
        <p:txBody>
          <a:bodyPr>
            <a:normAutofit/>
          </a:bodyPr>
          <a:lstStyle/>
          <a:p>
            <a:r>
              <a:rPr lang="en-US" dirty="0"/>
              <a:t>Ecommerce Operation &amp; Sales Performance Analytics</a:t>
            </a:r>
            <a:endParaRPr lang="en-IN" dirty="0"/>
          </a:p>
        </p:txBody>
      </p:sp>
      <p:sp>
        <p:nvSpPr>
          <p:cNvPr id="3" name="Subtitle 2">
            <a:extLst>
              <a:ext uri="{FF2B5EF4-FFF2-40B4-BE49-F238E27FC236}">
                <a16:creationId xmlns:a16="http://schemas.microsoft.com/office/drawing/2014/main" id="{D0952F35-C640-33F4-5F54-013A445A4727}"/>
              </a:ext>
            </a:extLst>
          </p:cNvPr>
          <p:cNvSpPr>
            <a:spLocks noGrp="1"/>
          </p:cNvSpPr>
          <p:nvPr>
            <p:ph type="subTitle" idx="1"/>
          </p:nvPr>
        </p:nvSpPr>
        <p:spPr/>
        <p:txBody>
          <a:bodyPr>
            <a:normAutofit/>
          </a:bodyPr>
          <a:lstStyle/>
          <a:p>
            <a:r>
              <a:rPr lang="en-US" sz="2800" dirty="0"/>
              <a:t>-By Komal Chahal</a:t>
            </a:r>
            <a:endParaRPr lang="en-IN" sz="2800" dirty="0"/>
          </a:p>
        </p:txBody>
      </p:sp>
    </p:spTree>
    <p:extLst>
      <p:ext uri="{BB962C8B-B14F-4D97-AF65-F5344CB8AC3E}">
        <p14:creationId xmlns:p14="http://schemas.microsoft.com/office/powerpoint/2010/main" val="3013608380"/>
      </p:ext>
    </p:extLst>
  </p:cSld>
  <p:clrMapOvr>
    <a:masterClrMapping/>
  </p:clrMapOvr>
  <mc:AlternateContent xmlns:mc="http://schemas.openxmlformats.org/markup-compatibility/2006" xmlns:p14="http://schemas.microsoft.com/office/powerpoint/2010/main">
    <mc:Choice Requires="p14">
      <p:transition spd="slow" p14:dur="2000" advTm="11496"/>
    </mc:Choice>
    <mc:Fallback xmlns="">
      <p:transition spd="slow" advTm="1149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2A857-772F-7226-02F6-D1E5334D0308}"/>
              </a:ext>
            </a:extLst>
          </p:cNvPr>
          <p:cNvSpPr>
            <a:spLocks noGrp="1"/>
          </p:cNvSpPr>
          <p:nvPr>
            <p:ph type="title"/>
          </p:nvPr>
        </p:nvSpPr>
        <p:spPr>
          <a:xfrm>
            <a:off x="497400" y="347679"/>
            <a:ext cx="6660484" cy="1507067"/>
          </a:xfrm>
        </p:spPr>
        <p:txBody>
          <a:bodyPr/>
          <a:lstStyle/>
          <a:p>
            <a:r>
              <a:rPr lang="en-IN" dirty="0"/>
              <a:t>COMPANY BACKGROUND</a:t>
            </a:r>
          </a:p>
        </p:txBody>
      </p:sp>
      <p:sp>
        <p:nvSpPr>
          <p:cNvPr id="3" name="Content Placeholder 2">
            <a:extLst>
              <a:ext uri="{FF2B5EF4-FFF2-40B4-BE49-F238E27FC236}">
                <a16:creationId xmlns:a16="http://schemas.microsoft.com/office/drawing/2014/main" id="{BBB6D25B-9CB0-99D9-79E4-66B65D957C42}"/>
              </a:ext>
            </a:extLst>
          </p:cNvPr>
          <p:cNvSpPr>
            <a:spLocks noGrp="1"/>
          </p:cNvSpPr>
          <p:nvPr>
            <p:ph idx="1"/>
          </p:nvPr>
        </p:nvSpPr>
        <p:spPr>
          <a:xfrm>
            <a:off x="497400" y="1956620"/>
            <a:ext cx="8534400" cy="3982064"/>
          </a:xfrm>
        </p:spPr>
        <p:txBody>
          <a:bodyPr>
            <a:normAutofit fontScale="92500" lnSpcReduction="10000"/>
          </a:bodyPr>
          <a:lstStyle/>
          <a:p>
            <a:r>
              <a:rPr lang="en-US" sz="2800" dirty="0"/>
              <a:t>The company is a digital retail entity operating in the E-commerce and Online Retail sector, serving both B2C and B2B clients.</a:t>
            </a:r>
          </a:p>
          <a:p>
            <a:r>
              <a:rPr lang="en-US" sz="2800" dirty="0"/>
              <a:t>It manages a diverse product portfolio across platforms like Amazon.in, ranging from Ethnic Wear (Sets, Kurtas) to Western apparel.</a:t>
            </a:r>
          </a:p>
          <a:p>
            <a:r>
              <a:rPr lang="en-US" sz="2800" dirty="0"/>
              <a:t>Currently, the organization is focused on achieving sustainable growth by leveraging data-driven insights to address operational inefficiencies.</a:t>
            </a:r>
            <a:endParaRPr lang="en-IN" sz="2800" dirty="0"/>
          </a:p>
        </p:txBody>
      </p:sp>
    </p:spTree>
    <p:extLst>
      <p:ext uri="{BB962C8B-B14F-4D97-AF65-F5344CB8AC3E}">
        <p14:creationId xmlns:p14="http://schemas.microsoft.com/office/powerpoint/2010/main" val="2472777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9A6F-86D6-FD9E-8AC9-9EBFE95AF51B}"/>
              </a:ext>
            </a:extLst>
          </p:cNvPr>
          <p:cNvSpPr>
            <a:spLocks noGrp="1"/>
          </p:cNvSpPr>
          <p:nvPr>
            <p:ph type="title"/>
          </p:nvPr>
        </p:nvSpPr>
        <p:spPr>
          <a:xfrm>
            <a:off x="802201" y="465939"/>
            <a:ext cx="5451116" cy="1507067"/>
          </a:xfrm>
        </p:spPr>
        <p:txBody>
          <a:bodyPr/>
          <a:lstStyle/>
          <a:p>
            <a:r>
              <a:rPr lang="en-IN" dirty="0"/>
              <a:t>Pr0blem statement</a:t>
            </a:r>
          </a:p>
        </p:txBody>
      </p:sp>
      <p:sp>
        <p:nvSpPr>
          <p:cNvPr id="3" name="Content Placeholder 2">
            <a:extLst>
              <a:ext uri="{FF2B5EF4-FFF2-40B4-BE49-F238E27FC236}">
                <a16:creationId xmlns:a16="http://schemas.microsoft.com/office/drawing/2014/main" id="{F898E7D6-E492-1721-24DB-5AE4CA48E723}"/>
              </a:ext>
            </a:extLst>
          </p:cNvPr>
          <p:cNvSpPr>
            <a:spLocks noGrp="1"/>
          </p:cNvSpPr>
          <p:nvPr>
            <p:ph idx="1"/>
          </p:nvPr>
        </p:nvSpPr>
        <p:spPr>
          <a:xfrm>
            <a:off x="802201" y="1779638"/>
            <a:ext cx="8534400" cy="3706761"/>
          </a:xfrm>
        </p:spPr>
        <p:txBody>
          <a:bodyPr/>
          <a:lstStyle/>
          <a:p>
            <a:r>
              <a:rPr lang="en-US" dirty="0"/>
              <a:t>The company is facing multiple challenges across financial performance, customer behavior, logistics efficiency, and product management.  </a:t>
            </a:r>
          </a:p>
          <a:p>
            <a:r>
              <a:rPr lang="en-US" dirty="0"/>
              <a:t>High cancellation and return rates, delayed shipments, and inconsistent sales trends are impacting overall business growth and customer satisfaction.</a:t>
            </a:r>
          </a:p>
          <a:p>
            <a:r>
              <a:rPr lang="en-US" dirty="0"/>
              <a:t>The objective of this analysis is to identify the root causes of these issues and provide data-driven insights to improve operational efficiency and drive sustainable growth.</a:t>
            </a:r>
            <a:endParaRPr lang="en-IN" dirty="0"/>
          </a:p>
        </p:txBody>
      </p:sp>
    </p:spTree>
    <p:extLst>
      <p:ext uri="{BB962C8B-B14F-4D97-AF65-F5344CB8AC3E}">
        <p14:creationId xmlns:p14="http://schemas.microsoft.com/office/powerpoint/2010/main" val="3133072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25BE4-874F-408D-D380-5A06CCDE2B5F}"/>
              </a:ext>
            </a:extLst>
          </p:cNvPr>
          <p:cNvSpPr>
            <a:spLocks noGrp="1"/>
          </p:cNvSpPr>
          <p:nvPr>
            <p:ph type="title"/>
          </p:nvPr>
        </p:nvSpPr>
        <p:spPr>
          <a:xfrm>
            <a:off x="838200" y="365126"/>
            <a:ext cx="10515600" cy="873740"/>
          </a:xfrm>
        </p:spPr>
        <p:txBody>
          <a:bodyPr/>
          <a:lstStyle/>
          <a:p>
            <a:r>
              <a:rPr lang="en-US" dirty="0"/>
              <a:t>Project Objective :</a:t>
            </a:r>
            <a:endParaRPr lang="en-IN" dirty="0"/>
          </a:p>
        </p:txBody>
      </p:sp>
      <p:sp>
        <p:nvSpPr>
          <p:cNvPr id="3" name="Content Placeholder 2">
            <a:extLst>
              <a:ext uri="{FF2B5EF4-FFF2-40B4-BE49-F238E27FC236}">
                <a16:creationId xmlns:a16="http://schemas.microsoft.com/office/drawing/2014/main" id="{A03E2D77-AE11-4B4B-F85C-10C766F9BE12}"/>
              </a:ext>
            </a:extLst>
          </p:cNvPr>
          <p:cNvSpPr>
            <a:spLocks noGrp="1"/>
          </p:cNvSpPr>
          <p:nvPr>
            <p:ph idx="1"/>
          </p:nvPr>
        </p:nvSpPr>
        <p:spPr>
          <a:xfrm>
            <a:off x="838200" y="1396181"/>
            <a:ext cx="10515600" cy="4780782"/>
          </a:xfrm>
        </p:spPr>
        <p:txBody>
          <a:bodyPr>
            <a:normAutofit/>
          </a:bodyPr>
          <a:lstStyle/>
          <a:p>
            <a:pPr marL="0" indent="0">
              <a:buNone/>
            </a:pPr>
            <a:r>
              <a:rPr lang="en-US" dirty="0"/>
              <a:t>The goal of this project is to develop a data-driven Ecommerce Operations &amp; Sales Performance Dashboard to solve key business challenges:</a:t>
            </a:r>
          </a:p>
          <a:p>
            <a:r>
              <a:rPr lang="en-US" dirty="0"/>
              <a:t>Sales Tracking: Monitor revenue trends, total orders, and average order value (AOV) to evaluate financial health.</a:t>
            </a:r>
          </a:p>
          <a:p>
            <a:r>
              <a:rPr lang="en-US" dirty="0"/>
              <a:t>Operational Efficiency: Analyze logistics and fulfillment modes to reduce delivery delays and optimize shipping.</a:t>
            </a:r>
          </a:p>
          <a:p>
            <a:r>
              <a:rPr lang="en-US" dirty="0"/>
              <a:t>Inventory Optimization: Identify top-selling categories and sizes to maintain optimal stock levels and prevent stockouts.</a:t>
            </a:r>
          </a:p>
          <a:p>
            <a:r>
              <a:rPr lang="en-US" dirty="0"/>
              <a:t>Customer Satisfaction: Track cancellation and return rates to identify problematic products and improve service quality.</a:t>
            </a:r>
          </a:p>
          <a:p>
            <a:r>
              <a:rPr lang="en-US" dirty="0"/>
              <a:t>Actionable Insights: Use geographical and customer data (B2B vs B2C) to guide marketing and expansion strategies.</a:t>
            </a:r>
            <a:endParaRPr lang="en-IN" dirty="0"/>
          </a:p>
        </p:txBody>
      </p:sp>
    </p:spTree>
    <p:extLst>
      <p:ext uri="{BB962C8B-B14F-4D97-AF65-F5344CB8AC3E}">
        <p14:creationId xmlns:p14="http://schemas.microsoft.com/office/powerpoint/2010/main" val="1679983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ED70F-2FFE-F2C4-9C87-1F9A286D3E84}"/>
              </a:ext>
            </a:extLst>
          </p:cNvPr>
          <p:cNvSpPr>
            <a:spLocks noGrp="1"/>
          </p:cNvSpPr>
          <p:nvPr>
            <p:ph type="title"/>
          </p:nvPr>
        </p:nvSpPr>
        <p:spPr>
          <a:xfrm>
            <a:off x="838199" y="501445"/>
            <a:ext cx="8380413" cy="678426"/>
          </a:xfrm>
        </p:spPr>
        <p:txBody>
          <a:bodyPr/>
          <a:lstStyle/>
          <a:p>
            <a:r>
              <a:rPr lang="en-US" dirty="0"/>
              <a:t>Technical tools &amp; </a:t>
            </a:r>
            <a:r>
              <a:rPr lang="en-US" sz="3200" dirty="0"/>
              <a:t>DAX</a:t>
            </a:r>
            <a:r>
              <a:rPr lang="en-US" dirty="0"/>
              <a:t> Formulas</a:t>
            </a:r>
            <a:endParaRPr lang="en-IN" dirty="0"/>
          </a:p>
        </p:txBody>
      </p:sp>
      <p:sp>
        <p:nvSpPr>
          <p:cNvPr id="3" name="Content Placeholder 2">
            <a:extLst>
              <a:ext uri="{FF2B5EF4-FFF2-40B4-BE49-F238E27FC236}">
                <a16:creationId xmlns:a16="http://schemas.microsoft.com/office/drawing/2014/main" id="{4625D906-FE91-AC2A-3269-98992BB4AB41}"/>
              </a:ext>
            </a:extLst>
          </p:cNvPr>
          <p:cNvSpPr>
            <a:spLocks noGrp="1"/>
          </p:cNvSpPr>
          <p:nvPr>
            <p:ph sz="half" idx="1"/>
          </p:nvPr>
        </p:nvSpPr>
        <p:spPr>
          <a:xfrm>
            <a:off x="838199" y="1681315"/>
            <a:ext cx="10515599" cy="678426"/>
          </a:xfrm>
        </p:spPr>
        <p:txBody>
          <a:bodyPr>
            <a:normAutofit/>
          </a:bodyPr>
          <a:lstStyle/>
          <a:p>
            <a:pPr marL="0" indent="0">
              <a:buNone/>
            </a:pPr>
            <a:r>
              <a:rPr lang="en-US" dirty="0"/>
              <a:t>Tools Used : Power BI Desktop, Power Query Editor</a:t>
            </a:r>
            <a:endParaRPr lang="en-IN" dirty="0"/>
          </a:p>
        </p:txBody>
      </p:sp>
      <p:sp>
        <p:nvSpPr>
          <p:cNvPr id="4" name="Content Placeholder 3">
            <a:extLst>
              <a:ext uri="{FF2B5EF4-FFF2-40B4-BE49-F238E27FC236}">
                <a16:creationId xmlns:a16="http://schemas.microsoft.com/office/drawing/2014/main" id="{8C9C6573-4A9D-EB25-FC97-53D9DF4F9FEB}"/>
              </a:ext>
            </a:extLst>
          </p:cNvPr>
          <p:cNvSpPr>
            <a:spLocks noGrp="1"/>
          </p:cNvSpPr>
          <p:nvPr>
            <p:ph sz="half" idx="2"/>
          </p:nvPr>
        </p:nvSpPr>
        <p:spPr>
          <a:xfrm>
            <a:off x="838199" y="2143433"/>
            <a:ext cx="10515601" cy="4345857"/>
          </a:xfrm>
        </p:spPr>
        <p:txBody>
          <a:bodyPr>
            <a:normAutofit/>
          </a:bodyPr>
          <a:lstStyle/>
          <a:p>
            <a:pPr marL="0" indent="0">
              <a:buNone/>
            </a:pPr>
            <a:r>
              <a:rPr lang="en-IN" dirty="0"/>
              <a:t>DAX Formulas</a:t>
            </a:r>
          </a:p>
          <a:p>
            <a:r>
              <a:rPr lang="en-US" dirty="0"/>
              <a:t>Actual Sales = if('sales_dataset'[Status]= "cancelled",0,'sales_dataset'[Amount])</a:t>
            </a:r>
            <a:endParaRPr lang="en-IN" dirty="0"/>
          </a:p>
          <a:p>
            <a:r>
              <a:rPr lang="en-IN" dirty="0"/>
              <a:t>Total Sales = SUM('sales_dataset’)[Actual Sales])</a:t>
            </a:r>
          </a:p>
          <a:p>
            <a:r>
              <a:rPr lang="en-IN" dirty="0"/>
              <a:t>Total Orders = DISTINCTCOUNT('sales_dataset’)[Order ID])</a:t>
            </a:r>
          </a:p>
          <a:p>
            <a:r>
              <a:rPr lang="en-IN" dirty="0"/>
              <a:t>Average Order Value (AOV):  DIVIDE([Total Sales], [Total Orders], 0)</a:t>
            </a:r>
          </a:p>
          <a:p>
            <a:r>
              <a:rPr lang="en-IN" dirty="0"/>
              <a:t>  Cancellation Rate = DIVIDE(CALCULATE([Total   Orders], 'sales_dataset'[Status] = "Cancelled"), [Total Orders], 0)</a:t>
            </a:r>
          </a:p>
          <a:p>
            <a:r>
              <a:rPr lang="en-US" dirty="0"/>
              <a:t>Month = FORMAT('sales_dataset'[Date],"MMMM")</a:t>
            </a:r>
            <a:endParaRPr lang="en-IN" dirty="0"/>
          </a:p>
          <a:p>
            <a:r>
              <a:rPr lang="en-US" dirty="0"/>
              <a:t>week day = FORMAT('sales_dataset'[Date],"dddd") </a:t>
            </a:r>
          </a:p>
        </p:txBody>
      </p:sp>
    </p:spTree>
    <p:extLst>
      <p:ext uri="{BB962C8B-B14F-4D97-AF65-F5344CB8AC3E}">
        <p14:creationId xmlns:p14="http://schemas.microsoft.com/office/powerpoint/2010/main" val="2069628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1F6C8-A6FF-E1E8-ABCE-CF260859FE0F}"/>
              </a:ext>
            </a:extLst>
          </p:cNvPr>
          <p:cNvSpPr>
            <a:spLocks noGrp="1"/>
          </p:cNvSpPr>
          <p:nvPr>
            <p:ph type="title"/>
          </p:nvPr>
        </p:nvSpPr>
        <p:spPr>
          <a:xfrm>
            <a:off x="684212" y="216311"/>
            <a:ext cx="6218033" cy="629264"/>
          </a:xfrm>
        </p:spPr>
        <p:txBody>
          <a:bodyPr>
            <a:normAutofit fontScale="90000"/>
          </a:bodyPr>
          <a:lstStyle/>
          <a:p>
            <a:r>
              <a:rPr lang="en-US" dirty="0"/>
              <a:t>Dashboard Overview</a:t>
            </a:r>
            <a:endParaRPr lang="en-IN" dirty="0"/>
          </a:p>
        </p:txBody>
      </p:sp>
      <p:pic>
        <p:nvPicPr>
          <p:cNvPr id="4" name="Picture 3">
            <a:extLst>
              <a:ext uri="{FF2B5EF4-FFF2-40B4-BE49-F238E27FC236}">
                <a16:creationId xmlns:a16="http://schemas.microsoft.com/office/drawing/2014/main" id="{1250B264-C2B4-4AB6-8C41-F330203604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757084"/>
            <a:ext cx="11621729" cy="6017342"/>
          </a:xfrm>
          <a:prstGeom prst="rect">
            <a:avLst/>
          </a:prstGeom>
        </p:spPr>
      </p:pic>
    </p:spTree>
    <p:extLst>
      <p:ext uri="{BB962C8B-B14F-4D97-AF65-F5344CB8AC3E}">
        <p14:creationId xmlns:p14="http://schemas.microsoft.com/office/powerpoint/2010/main" val="829025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5B71DDC-08E9-0D0F-FE3A-35A6A86E91E4}"/>
              </a:ext>
            </a:extLst>
          </p:cNvPr>
          <p:cNvSpPr>
            <a:spLocks noGrp="1"/>
          </p:cNvSpPr>
          <p:nvPr>
            <p:ph type="body" idx="1"/>
          </p:nvPr>
        </p:nvSpPr>
        <p:spPr>
          <a:xfrm>
            <a:off x="741466" y="216310"/>
            <a:ext cx="5157787" cy="580103"/>
          </a:xfrm>
        </p:spPr>
        <p:txBody>
          <a:bodyPr/>
          <a:lstStyle/>
          <a:p>
            <a:endParaRPr lang="en-US" dirty="0"/>
          </a:p>
          <a:p>
            <a:r>
              <a:rPr lang="en-IN" dirty="0"/>
              <a:t>Sales Growth Over Time</a:t>
            </a:r>
          </a:p>
        </p:txBody>
      </p:sp>
      <p:sp>
        <p:nvSpPr>
          <p:cNvPr id="7" name="Content Placeholder 6">
            <a:extLst>
              <a:ext uri="{FF2B5EF4-FFF2-40B4-BE49-F238E27FC236}">
                <a16:creationId xmlns:a16="http://schemas.microsoft.com/office/drawing/2014/main" id="{DD416CD8-0DC6-E8CE-67F9-CF27B3521FBB}"/>
              </a:ext>
            </a:extLst>
          </p:cNvPr>
          <p:cNvSpPr>
            <a:spLocks noGrp="1"/>
          </p:cNvSpPr>
          <p:nvPr>
            <p:ph sz="half" idx="2"/>
          </p:nvPr>
        </p:nvSpPr>
        <p:spPr>
          <a:xfrm>
            <a:off x="684211" y="4471749"/>
            <a:ext cx="4937655" cy="1820896"/>
          </a:xfrm>
        </p:spPr>
        <p:txBody>
          <a:bodyPr>
            <a:normAutofit/>
          </a:bodyPr>
          <a:lstStyle/>
          <a:p>
            <a:r>
              <a:rPr lang="en-US" dirty="0"/>
              <a:t>Insight: Displays a sharp revenue peak in April, followed by a stabilization period, indicating a successful seasonal campaign or high-demand period.</a:t>
            </a:r>
            <a:endParaRPr lang="en-IN" dirty="0"/>
          </a:p>
          <a:p>
            <a:pPr marL="0" indent="0">
              <a:buNone/>
            </a:pPr>
            <a:endParaRPr lang="en-IN" dirty="0"/>
          </a:p>
        </p:txBody>
      </p:sp>
      <p:sp>
        <p:nvSpPr>
          <p:cNvPr id="8" name="Text Placeholder 7">
            <a:extLst>
              <a:ext uri="{FF2B5EF4-FFF2-40B4-BE49-F238E27FC236}">
                <a16:creationId xmlns:a16="http://schemas.microsoft.com/office/drawing/2014/main" id="{BFD25DE3-8868-2812-7614-5BDC74DC6BB4}"/>
              </a:ext>
            </a:extLst>
          </p:cNvPr>
          <p:cNvSpPr>
            <a:spLocks noGrp="1"/>
          </p:cNvSpPr>
          <p:nvPr>
            <p:ph type="body" sz="quarter" idx="3"/>
          </p:nvPr>
        </p:nvSpPr>
        <p:spPr>
          <a:xfrm>
            <a:off x="6172200" y="373626"/>
            <a:ext cx="5183188" cy="1002889"/>
          </a:xfrm>
        </p:spPr>
        <p:txBody>
          <a:bodyPr/>
          <a:lstStyle/>
          <a:p>
            <a:r>
              <a:rPr lang="en-US" dirty="0"/>
              <a:t>Top 5 Best Selling Products</a:t>
            </a:r>
          </a:p>
          <a:p>
            <a:endParaRPr lang="en-IN" dirty="0"/>
          </a:p>
        </p:txBody>
      </p:sp>
      <p:sp>
        <p:nvSpPr>
          <p:cNvPr id="9" name="Content Placeholder 8">
            <a:extLst>
              <a:ext uri="{FF2B5EF4-FFF2-40B4-BE49-F238E27FC236}">
                <a16:creationId xmlns:a16="http://schemas.microsoft.com/office/drawing/2014/main" id="{127CD44A-01A3-DEC8-3A2C-2B683D36A685}"/>
              </a:ext>
            </a:extLst>
          </p:cNvPr>
          <p:cNvSpPr>
            <a:spLocks noGrp="1"/>
          </p:cNvSpPr>
          <p:nvPr>
            <p:ph sz="quarter" idx="4"/>
          </p:nvPr>
        </p:nvSpPr>
        <p:spPr>
          <a:xfrm>
            <a:off x="5806545" y="4573952"/>
            <a:ext cx="4929188" cy="1710224"/>
          </a:xfrm>
        </p:spPr>
        <p:txBody>
          <a:bodyPr>
            <a:normAutofit/>
          </a:bodyPr>
          <a:lstStyle/>
          <a:p>
            <a:r>
              <a:rPr lang="en-US" dirty="0"/>
              <a:t>Insight: Identifies 'Set' and 'Kurta' as the primary revenue drivers, contributing significantly to the total sales of ₹83.29M.</a:t>
            </a:r>
            <a:endParaRPr lang="en-IN" dirty="0"/>
          </a:p>
        </p:txBody>
      </p:sp>
      <p:pic>
        <p:nvPicPr>
          <p:cNvPr id="11" name="Picture 10">
            <a:extLst>
              <a:ext uri="{FF2B5EF4-FFF2-40B4-BE49-F238E27FC236}">
                <a16:creationId xmlns:a16="http://schemas.microsoft.com/office/drawing/2014/main" id="{07E74DB9-32AB-B0DD-7D22-E88B02465A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1052709"/>
            <a:ext cx="4429743" cy="3232208"/>
          </a:xfrm>
          <a:prstGeom prst="rect">
            <a:avLst/>
          </a:prstGeom>
        </p:spPr>
      </p:pic>
      <p:pic>
        <p:nvPicPr>
          <p:cNvPr id="3" name="Picture 2">
            <a:extLst>
              <a:ext uri="{FF2B5EF4-FFF2-40B4-BE49-F238E27FC236}">
                <a16:creationId xmlns:a16="http://schemas.microsoft.com/office/drawing/2014/main" id="{A3257709-6DB1-A3C8-D427-9949010A2B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571" y="965072"/>
            <a:ext cx="3839111" cy="1512657"/>
          </a:xfrm>
          <a:prstGeom prst="rect">
            <a:avLst/>
          </a:prstGeom>
        </p:spPr>
      </p:pic>
      <p:pic>
        <p:nvPicPr>
          <p:cNvPr id="10" name="Picture 9">
            <a:extLst>
              <a:ext uri="{FF2B5EF4-FFF2-40B4-BE49-F238E27FC236}">
                <a16:creationId xmlns:a16="http://schemas.microsoft.com/office/drawing/2014/main" id="{1616A1B6-EC87-9F55-AC98-9653016F1FAE}"/>
              </a:ext>
            </a:extLst>
          </p:cNvPr>
          <p:cNvPicPr>
            <a:picLocks noChangeAspect="1"/>
          </p:cNvPicPr>
          <p:nvPr/>
        </p:nvPicPr>
        <p:blipFill>
          <a:blip r:embed="rId4">
            <a:extLst>
              <a:ext uri="{28A0092B-C50C-407E-A947-70E740481C1C}">
                <a14:useLocalDpi xmlns:a14="http://schemas.microsoft.com/office/drawing/2010/main" val="0"/>
              </a:ext>
            </a:extLst>
          </a:blip>
          <a:srcRect r="983"/>
          <a:stretch>
            <a:fillRect/>
          </a:stretch>
        </p:blipFill>
        <p:spPr>
          <a:xfrm>
            <a:off x="779571" y="2646388"/>
            <a:ext cx="3839111" cy="1638529"/>
          </a:xfrm>
          <a:prstGeom prst="rect">
            <a:avLst/>
          </a:prstGeom>
        </p:spPr>
      </p:pic>
    </p:spTree>
    <p:extLst>
      <p:ext uri="{BB962C8B-B14F-4D97-AF65-F5344CB8AC3E}">
        <p14:creationId xmlns:p14="http://schemas.microsoft.com/office/powerpoint/2010/main" val="1347553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E8A4760-0309-8565-7ABE-62E248F25BC0}"/>
              </a:ext>
            </a:extLst>
          </p:cNvPr>
          <p:cNvSpPr>
            <a:spLocks noGrp="1"/>
          </p:cNvSpPr>
          <p:nvPr>
            <p:ph type="body" idx="1"/>
          </p:nvPr>
        </p:nvSpPr>
        <p:spPr>
          <a:xfrm>
            <a:off x="342815" y="551256"/>
            <a:ext cx="5753185" cy="672127"/>
          </a:xfrm>
        </p:spPr>
        <p:txBody>
          <a:bodyPr/>
          <a:lstStyle/>
          <a:p>
            <a:r>
              <a:rPr lang="en-US" dirty="0"/>
              <a:t>Amazon vs Merchant Fulfillment</a:t>
            </a:r>
          </a:p>
        </p:txBody>
      </p:sp>
      <p:sp>
        <p:nvSpPr>
          <p:cNvPr id="4" name="Content Placeholder 3">
            <a:extLst>
              <a:ext uri="{FF2B5EF4-FFF2-40B4-BE49-F238E27FC236}">
                <a16:creationId xmlns:a16="http://schemas.microsoft.com/office/drawing/2014/main" id="{B3DC2836-43DF-30C8-678A-BA8705AE0C55}"/>
              </a:ext>
            </a:extLst>
          </p:cNvPr>
          <p:cNvSpPr>
            <a:spLocks noGrp="1"/>
          </p:cNvSpPr>
          <p:nvPr>
            <p:ph sz="half" idx="2"/>
          </p:nvPr>
        </p:nvSpPr>
        <p:spPr>
          <a:xfrm>
            <a:off x="684211" y="4677168"/>
            <a:ext cx="4937655" cy="1590897"/>
          </a:xfrm>
        </p:spPr>
        <p:txBody>
          <a:bodyPr>
            <a:normAutofit lnSpcReduction="10000"/>
          </a:bodyPr>
          <a:lstStyle/>
          <a:p>
            <a:r>
              <a:rPr lang="en-US" dirty="0"/>
              <a:t>Insight: Approximately 70% of orders are fulfilled by Amazon (FBA), suggesting a strong reliance on third-party logistics for delivery efficiency.</a:t>
            </a:r>
            <a:endParaRPr lang="en-IN" dirty="0"/>
          </a:p>
        </p:txBody>
      </p:sp>
      <p:sp>
        <p:nvSpPr>
          <p:cNvPr id="5" name="Text Placeholder 4">
            <a:extLst>
              <a:ext uri="{FF2B5EF4-FFF2-40B4-BE49-F238E27FC236}">
                <a16:creationId xmlns:a16="http://schemas.microsoft.com/office/drawing/2014/main" id="{27C87115-DBA3-18F9-D057-6F3C5006832F}"/>
              </a:ext>
            </a:extLst>
          </p:cNvPr>
          <p:cNvSpPr>
            <a:spLocks noGrp="1"/>
          </p:cNvSpPr>
          <p:nvPr>
            <p:ph type="body" sz="quarter" idx="3"/>
          </p:nvPr>
        </p:nvSpPr>
        <p:spPr>
          <a:xfrm>
            <a:off x="6459793" y="647121"/>
            <a:ext cx="4018936" cy="576262"/>
          </a:xfrm>
        </p:spPr>
        <p:txBody>
          <a:bodyPr/>
          <a:lstStyle/>
          <a:p>
            <a:r>
              <a:rPr lang="en-US" dirty="0"/>
              <a:t>B2B vs B2C Sales</a:t>
            </a:r>
          </a:p>
        </p:txBody>
      </p:sp>
      <p:sp>
        <p:nvSpPr>
          <p:cNvPr id="6" name="Content Placeholder 5">
            <a:extLst>
              <a:ext uri="{FF2B5EF4-FFF2-40B4-BE49-F238E27FC236}">
                <a16:creationId xmlns:a16="http://schemas.microsoft.com/office/drawing/2014/main" id="{D437ACF1-A2D5-6965-C0F6-304913C2E831}"/>
              </a:ext>
            </a:extLst>
          </p:cNvPr>
          <p:cNvSpPr>
            <a:spLocks noGrp="1"/>
          </p:cNvSpPr>
          <p:nvPr>
            <p:ph sz="quarter" idx="4"/>
          </p:nvPr>
        </p:nvSpPr>
        <p:spPr>
          <a:xfrm>
            <a:off x="5806545" y="4677168"/>
            <a:ext cx="4929188" cy="1409000"/>
          </a:xfrm>
        </p:spPr>
        <p:txBody>
          <a:bodyPr>
            <a:normAutofit lnSpcReduction="10000"/>
          </a:bodyPr>
          <a:lstStyle/>
          <a:p>
            <a:r>
              <a:rPr lang="en-US" dirty="0"/>
              <a:t>Insight: The business is overwhelmingly driven by B2C transactions (99.34%), highlighting a direct-to-consumer market focus.</a:t>
            </a:r>
            <a:endParaRPr lang="en-IN" dirty="0"/>
          </a:p>
        </p:txBody>
      </p:sp>
      <p:pic>
        <p:nvPicPr>
          <p:cNvPr id="8" name="Picture 7">
            <a:extLst>
              <a:ext uri="{FF2B5EF4-FFF2-40B4-BE49-F238E27FC236}">
                <a16:creationId xmlns:a16="http://schemas.microsoft.com/office/drawing/2014/main" id="{C3158756-9178-691C-60F9-4E024367D9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738" y="1472501"/>
            <a:ext cx="3904720" cy="2283422"/>
          </a:xfrm>
          <a:prstGeom prst="rect">
            <a:avLst/>
          </a:prstGeom>
        </p:spPr>
      </p:pic>
      <p:pic>
        <p:nvPicPr>
          <p:cNvPr id="10" name="Picture 9">
            <a:extLst>
              <a:ext uri="{FF2B5EF4-FFF2-40B4-BE49-F238E27FC236}">
                <a16:creationId xmlns:a16="http://schemas.microsoft.com/office/drawing/2014/main" id="{374EE014-FCAD-6EF9-B28E-DCD97DBC18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6718" y="1472501"/>
            <a:ext cx="3998998" cy="2283422"/>
          </a:xfrm>
          <a:prstGeom prst="rect">
            <a:avLst/>
          </a:prstGeom>
        </p:spPr>
      </p:pic>
    </p:spTree>
    <p:extLst>
      <p:ext uri="{BB962C8B-B14F-4D97-AF65-F5344CB8AC3E}">
        <p14:creationId xmlns:p14="http://schemas.microsoft.com/office/powerpoint/2010/main" val="3946467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3F450C01-2D31-DB39-B2F5-0E793B3866AB}"/>
              </a:ext>
            </a:extLst>
          </p:cNvPr>
          <p:cNvSpPr>
            <a:spLocks noGrp="1"/>
          </p:cNvSpPr>
          <p:nvPr>
            <p:ph type="body" idx="1"/>
          </p:nvPr>
        </p:nvSpPr>
        <p:spPr/>
        <p:txBody>
          <a:bodyPr/>
          <a:lstStyle/>
          <a:p>
            <a:r>
              <a:rPr lang="en-US" dirty="0"/>
              <a:t>Top Performing Location </a:t>
            </a:r>
          </a:p>
        </p:txBody>
      </p:sp>
      <p:sp>
        <p:nvSpPr>
          <p:cNvPr id="10" name="Content Placeholder 9">
            <a:extLst>
              <a:ext uri="{FF2B5EF4-FFF2-40B4-BE49-F238E27FC236}">
                <a16:creationId xmlns:a16="http://schemas.microsoft.com/office/drawing/2014/main" id="{AA271D67-9126-AF33-8F42-E38A52CB57EC}"/>
              </a:ext>
            </a:extLst>
          </p:cNvPr>
          <p:cNvSpPr>
            <a:spLocks noGrp="1"/>
          </p:cNvSpPr>
          <p:nvPr>
            <p:ph sz="half" idx="2"/>
          </p:nvPr>
        </p:nvSpPr>
        <p:spPr>
          <a:xfrm>
            <a:off x="684211" y="4486039"/>
            <a:ext cx="4937655" cy="1686160"/>
          </a:xfrm>
        </p:spPr>
        <p:txBody>
          <a:bodyPr/>
          <a:lstStyle/>
          <a:p>
            <a:r>
              <a:rPr lang="en-US" dirty="0"/>
              <a:t>Insight: Geographically visualizes market concentration, showing that the majority of the customer base is situated within the Indian subcontinent.</a:t>
            </a:r>
            <a:endParaRPr lang="en-IN" dirty="0"/>
          </a:p>
        </p:txBody>
      </p:sp>
      <p:sp>
        <p:nvSpPr>
          <p:cNvPr id="11" name="Text Placeholder 10">
            <a:extLst>
              <a:ext uri="{FF2B5EF4-FFF2-40B4-BE49-F238E27FC236}">
                <a16:creationId xmlns:a16="http://schemas.microsoft.com/office/drawing/2014/main" id="{116E25FD-6018-F2B1-3D3F-B6F0D76F484F}"/>
              </a:ext>
            </a:extLst>
          </p:cNvPr>
          <p:cNvSpPr>
            <a:spLocks noGrp="1"/>
          </p:cNvSpPr>
          <p:nvPr>
            <p:ph type="body" sz="quarter" idx="3"/>
          </p:nvPr>
        </p:nvSpPr>
        <p:spPr/>
        <p:txBody>
          <a:bodyPr/>
          <a:lstStyle/>
          <a:p>
            <a:r>
              <a:rPr lang="en-US" dirty="0"/>
              <a:t>Service Level Analysis</a:t>
            </a:r>
          </a:p>
        </p:txBody>
      </p:sp>
      <p:sp>
        <p:nvSpPr>
          <p:cNvPr id="12" name="Content Placeholder 11">
            <a:extLst>
              <a:ext uri="{FF2B5EF4-FFF2-40B4-BE49-F238E27FC236}">
                <a16:creationId xmlns:a16="http://schemas.microsoft.com/office/drawing/2014/main" id="{44C1D7C2-1734-DB44-8F01-E97A5277691E}"/>
              </a:ext>
            </a:extLst>
          </p:cNvPr>
          <p:cNvSpPr>
            <a:spLocks noGrp="1"/>
          </p:cNvSpPr>
          <p:nvPr>
            <p:ph sz="quarter" idx="4"/>
          </p:nvPr>
        </p:nvSpPr>
        <p:spPr>
          <a:xfrm>
            <a:off x="5806545" y="4486038"/>
            <a:ext cx="4929188" cy="1686160"/>
          </a:xfrm>
        </p:spPr>
        <p:txBody>
          <a:bodyPr/>
          <a:lstStyle/>
          <a:p>
            <a:r>
              <a:rPr lang="en-US" dirty="0"/>
              <a:t>Insight: Shows that 'Expedited' shipping is the most utilized service level, reflecting customer preference for faster delivery times.</a:t>
            </a:r>
            <a:endParaRPr lang="en-IN" dirty="0"/>
          </a:p>
        </p:txBody>
      </p:sp>
      <p:pic>
        <p:nvPicPr>
          <p:cNvPr id="16" name="Picture 15">
            <a:extLst>
              <a:ext uri="{FF2B5EF4-FFF2-40B4-BE49-F238E27FC236}">
                <a16:creationId xmlns:a16="http://schemas.microsoft.com/office/drawing/2014/main" id="{F569C22A-CD9E-713B-5A1F-3C8EEE29E1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9689" y="1560070"/>
            <a:ext cx="4022672" cy="2215517"/>
          </a:xfrm>
          <a:prstGeom prst="rect">
            <a:avLst/>
          </a:prstGeom>
        </p:spPr>
      </p:pic>
      <p:pic>
        <p:nvPicPr>
          <p:cNvPr id="4" name="Picture 3">
            <a:extLst>
              <a:ext uri="{FF2B5EF4-FFF2-40B4-BE49-F238E27FC236}">
                <a16:creationId xmlns:a16="http://schemas.microsoft.com/office/drawing/2014/main" id="{B7B27D51-1867-470E-91FD-370E5C11F8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3522" y="1543170"/>
            <a:ext cx="4568344" cy="2232417"/>
          </a:xfrm>
          <a:prstGeom prst="rect">
            <a:avLst/>
          </a:prstGeom>
        </p:spPr>
      </p:pic>
    </p:spTree>
    <p:extLst>
      <p:ext uri="{BB962C8B-B14F-4D97-AF65-F5344CB8AC3E}">
        <p14:creationId xmlns:p14="http://schemas.microsoft.com/office/powerpoint/2010/main" val="2312139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46306FF-3631-B0FE-905F-6EFE924EE5F9}"/>
              </a:ext>
            </a:extLst>
          </p:cNvPr>
          <p:cNvSpPr>
            <a:spLocks noGrp="1"/>
          </p:cNvSpPr>
          <p:nvPr>
            <p:ph type="body" idx="1"/>
          </p:nvPr>
        </p:nvSpPr>
        <p:spPr>
          <a:xfrm>
            <a:off x="972080" y="448204"/>
            <a:ext cx="4649787" cy="576262"/>
          </a:xfrm>
        </p:spPr>
        <p:txBody>
          <a:bodyPr/>
          <a:lstStyle/>
          <a:p>
            <a:r>
              <a:rPr lang="en-US" dirty="0"/>
              <a:t> Category Demand </a:t>
            </a:r>
          </a:p>
        </p:txBody>
      </p:sp>
      <p:sp>
        <p:nvSpPr>
          <p:cNvPr id="4" name="Content Placeholder 3">
            <a:extLst>
              <a:ext uri="{FF2B5EF4-FFF2-40B4-BE49-F238E27FC236}">
                <a16:creationId xmlns:a16="http://schemas.microsoft.com/office/drawing/2014/main" id="{900D17E5-B58D-EDFB-57B1-80AF11E43399}"/>
              </a:ext>
            </a:extLst>
          </p:cNvPr>
          <p:cNvSpPr>
            <a:spLocks noGrp="1"/>
          </p:cNvSpPr>
          <p:nvPr>
            <p:ph sz="half" idx="2"/>
          </p:nvPr>
        </p:nvSpPr>
        <p:spPr>
          <a:xfrm>
            <a:off x="684212" y="4345858"/>
            <a:ext cx="4937655" cy="2013154"/>
          </a:xfrm>
        </p:spPr>
        <p:txBody>
          <a:bodyPr/>
          <a:lstStyle/>
          <a:p>
            <a:r>
              <a:rPr lang="en-US" dirty="0"/>
              <a:t>Insight: Set' and 'Kurta' represent the highest inventory demand, with sizes M, L, and XL being the most popular across all categories, indicating a need for higher stock levels in these core segments.</a:t>
            </a:r>
            <a:endParaRPr lang="en-IN" dirty="0"/>
          </a:p>
        </p:txBody>
      </p:sp>
      <p:sp>
        <p:nvSpPr>
          <p:cNvPr id="5" name="Text Placeholder 4">
            <a:extLst>
              <a:ext uri="{FF2B5EF4-FFF2-40B4-BE49-F238E27FC236}">
                <a16:creationId xmlns:a16="http://schemas.microsoft.com/office/drawing/2014/main" id="{DEAB601A-076E-15AA-A4D4-8DAE905F8FBA}"/>
              </a:ext>
            </a:extLst>
          </p:cNvPr>
          <p:cNvSpPr>
            <a:spLocks noGrp="1"/>
          </p:cNvSpPr>
          <p:nvPr>
            <p:ph type="body" sz="quarter" idx="3"/>
          </p:nvPr>
        </p:nvSpPr>
        <p:spPr>
          <a:xfrm>
            <a:off x="6174658" y="342507"/>
            <a:ext cx="5045262" cy="681959"/>
          </a:xfrm>
        </p:spPr>
        <p:txBody>
          <a:bodyPr/>
          <a:lstStyle/>
          <a:p>
            <a:r>
              <a:rPr lang="en-US" dirty="0"/>
              <a:t>Order, Qty &amp; Sales Analysis</a:t>
            </a:r>
          </a:p>
        </p:txBody>
      </p:sp>
      <p:sp>
        <p:nvSpPr>
          <p:cNvPr id="6" name="Content Placeholder 5">
            <a:extLst>
              <a:ext uri="{FF2B5EF4-FFF2-40B4-BE49-F238E27FC236}">
                <a16:creationId xmlns:a16="http://schemas.microsoft.com/office/drawing/2014/main" id="{998D95D2-9B1F-B549-F173-4D631BCF48BC}"/>
              </a:ext>
            </a:extLst>
          </p:cNvPr>
          <p:cNvSpPr>
            <a:spLocks noGrp="1"/>
          </p:cNvSpPr>
          <p:nvPr>
            <p:ph sz="quarter" idx="4"/>
          </p:nvPr>
        </p:nvSpPr>
        <p:spPr>
          <a:xfrm>
            <a:off x="5963862" y="4274576"/>
            <a:ext cx="4929188" cy="2013153"/>
          </a:xfrm>
        </p:spPr>
        <p:txBody>
          <a:bodyPr/>
          <a:lstStyle/>
          <a:p>
            <a:r>
              <a:rPr lang="en-US" dirty="0"/>
              <a:t>Insight: Sets and Kurtas drive over 75% of total volume, with ‘Sets’ acting as the primary revenue engine, contributing 50% of total sales(Rs.3.57 Cr).</a:t>
            </a:r>
            <a:endParaRPr lang="en-IN" dirty="0"/>
          </a:p>
        </p:txBody>
      </p:sp>
      <p:pic>
        <p:nvPicPr>
          <p:cNvPr id="8" name="Picture 7">
            <a:extLst>
              <a:ext uri="{FF2B5EF4-FFF2-40B4-BE49-F238E27FC236}">
                <a16:creationId xmlns:a16="http://schemas.microsoft.com/office/drawing/2014/main" id="{E251F396-E3A8-D154-B71A-E4A1051E18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8515" y="1321586"/>
            <a:ext cx="4167702" cy="2631376"/>
          </a:xfrm>
          <a:prstGeom prst="rect">
            <a:avLst/>
          </a:prstGeom>
        </p:spPr>
      </p:pic>
      <p:pic>
        <p:nvPicPr>
          <p:cNvPr id="7" name="Picture 6">
            <a:extLst>
              <a:ext uri="{FF2B5EF4-FFF2-40B4-BE49-F238E27FC236}">
                <a16:creationId xmlns:a16="http://schemas.microsoft.com/office/drawing/2014/main" id="{B8CB7003-FE64-98B4-EFDF-712AB7788BF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876246" y="1321585"/>
            <a:ext cx="4039884" cy="1274131"/>
          </a:xfrm>
          <a:prstGeom prst="rect">
            <a:avLst/>
          </a:prstGeom>
        </p:spPr>
      </p:pic>
      <p:pic>
        <p:nvPicPr>
          <p:cNvPr id="10" name="Picture 9">
            <a:extLst>
              <a:ext uri="{FF2B5EF4-FFF2-40B4-BE49-F238E27FC236}">
                <a16:creationId xmlns:a16="http://schemas.microsoft.com/office/drawing/2014/main" id="{5268ED1E-FFF0-0AC2-3767-5B6CFC1825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246" y="2698954"/>
            <a:ext cx="4039884" cy="1349785"/>
          </a:xfrm>
          <a:prstGeom prst="rect">
            <a:avLst/>
          </a:prstGeom>
        </p:spPr>
      </p:pic>
    </p:spTree>
    <p:extLst>
      <p:ext uri="{BB962C8B-B14F-4D97-AF65-F5344CB8AC3E}">
        <p14:creationId xmlns:p14="http://schemas.microsoft.com/office/powerpoint/2010/main" val="794607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5B9D36A-E956-B7F7-4B41-A95EF658221F}"/>
              </a:ext>
            </a:extLst>
          </p:cNvPr>
          <p:cNvSpPr>
            <a:spLocks noGrp="1"/>
          </p:cNvSpPr>
          <p:nvPr>
            <p:ph type="body" idx="1"/>
          </p:nvPr>
        </p:nvSpPr>
        <p:spPr/>
        <p:txBody>
          <a:bodyPr/>
          <a:lstStyle/>
          <a:p>
            <a:r>
              <a:rPr lang="en-US" dirty="0"/>
              <a:t>Cancellation Rate</a:t>
            </a:r>
          </a:p>
        </p:txBody>
      </p:sp>
      <p:sp>
        <p:nvSpPr>
          <p:cNvPr id="4" name="Content Placeholder 3">
            <a:extLst>
              <a:ext uri="{FF2B5EF4-FFF2-40B4-BE49-F238E27FC236}">
                <a16:creationId xmlns:a16="http://schemas.microsoft.com/office/drawing/2014/main" id="{3D2AD725-F096-E1B2-0BFD-520BB961D702}"/>
              </a:ext>
            </a:extLst>
          </p:cNvPr>
          <p:cNvSpPr>
            <a:spLocks noGrp="1"/>
          </p:cNvSpPr>
          <p:nvPr>
            <p:ph sz="half" idx="2"/>
          </p:nvPr>
        </p:nvSpPr>
        <p:spPr>
          <a:xfrm>
            <a:off x="684212" y="3913238"/>
            <a:ext cx="4772691" cy="1641987"/>
          </a:xfrm>
        </p:spPr>
        <p:txBody>
          <a:bodyPr>
            <a:normAutofit fontScale="92500" lnSpcReduction="20000"/>
          </a:bodyPr>
          <a:lstStyle/>
          <a:p>
            <a:r>
              <a:rPr lang="en-US" dirty="0"/>
              <a:t>Insight: Acts as a critical health metric, showing a 14% </a:t>
            </a:r>
            <a:r>
              <a:rPr lang="en-US" sz="2200" dirty="0"/>
              <a:t>cancellation</a:t>
            </a:r>
            <a:r>
              <a:rPr lang="en-US" dirty="0"/>
              <a:t> rate that needs to be monitored to improve overall customer satisfaction.</a:t>
            </a:r>
            <a:endParaRPr lang="en-IN" dirty="0"/>
          </a:p>
        </p:txBody>
      </p:sp>
      <p:sp>
        <p:nvSpPr>
          <p:cNvPr id="5" name="Text Placeholder 4">
            <a:extLst>
              <a:ext uri="{FF2B5EF4-FFF2-40B4-BE49-F238E27FC236}">
                <a16:creationId xmlns:a16="http://schemas.microsoft.com/office/drawing/2014/main" id="{121CAEAE-C9FB-27FB-D1C7-2EB9D17B3E18}"/>
              </a:ext>
            </a:extLst>
          </p:cNvPr>
          <p:cNvSpPr>
            <a:spLocks noGrp="1"/>
          </p:cNvSpPr>
          <p:nvPr>
            <p:ph type="body" sz="quarter" idx="3"/>
          </p:nvPr>
        </p:nvSpPr>
        <p:spPr/>
        <p:txBody>
          <a:bodyPr/>
          <a:lstStyle/>
          <a:p>
            <a:r>
              <a:rPr lang="en-US" dirty="0"/>
              <a:t>Problematic Categories</a:t>
            </a:r>
          </a:p>
        </p:txBody>
      </p:sp>
      <p:sp>
        <p:nvSpPr>
          <p:cNvPr id="6" name="Content Placeholder 5">
            <a:extLst>
              <a:ext uri="{FF2B5EF4-FFF2-40B4-BE49-F238E27FC236}">
                <a16:creationId xmlns:a16="http://schemas.microsoft.com/office/drawing/2014/main" id="{F676CC11-2F9C-B9B9-5534-A4C4C36F540F}"/>
              </a:ext>
            </a:extLst>
          </p:cNvPr>
          <p:cNvSpPr>
            <a:spLocks noGrp="1"/>
          </p:cNvSpPr>
          <p:nvPr>
            <p:ph sz="quarter" idx="4"/>
          </p:nvPr>
        </p:nvSpPr>
        <p:spPr>
          <a:xfrm>
            <a:off x="5806545" y="3913238"/>
            <a:ext cx="4929188" cy="1504335"/>
          </a:xfrm>
        </p:spPr>
        <p:txBody>
          <a:bodyPr>
            <a:normAutofit fontScale="92500" lnSpcReduction="20000"/>
          </a:bodyPr>
          <a:lstStyle/>
          <a:p>
            <a:r>
              <a:rPr lang="en-US" dirty="0"/>
              <a:t>Insight: SKU JNE3797-KR-L is the most Problematic item with 128 cancellations. High returns are concentrated in specific western Dress SKUS rather than entire Categories</a:t>
            </a:r>
            <a:endParaRPr lang="en-IN" dirty="0"/>
          </a:p>
        </p:txBody>
      </p:sp>
      <p:pic>
        <p:nvPicPr>
          <p:cNvPr id="7" name="Picture 6">
            <a:extLst>
              <a:ext uri="{FF2B5EF4-FFF2-40B4-BE49-F238E27FC236}">
                <a16:creationId xmlns:a16="http://schemas.microsoft.com/office/drawing/2014/main" id="{FC69420C-B3DC-D51A-3F1F-EF16AFFFE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9065" y="1440427"/>
            <a:ext cx="4303799" cy="2102934"/>
          </a:xfrm>
          <a:prstGeom prst="rect">
            <a:avLst/>
          </a:prstGeom>
        </p:spPr>
      </p:pic>
      <p:pic>
        <p:nvPicPr>
          <p:cNvPr id="8" name="Picture 7">
            <a:extLst>
              <a:ext uri="{FF2B5EF4-FFF2-40B4-BE49-F238E27FC236}">
                <a16:creationId xmlns:a16="http://schemas.microsoft.com/office/drawing/2014/main" id="{C90751A2-FED8-72CA-FBB9-B608CAD505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079" y="1559125"/>
            <a:ext cx="3727739" cy="2102934"/>
          </a:xfrm>
          <a:prstGeom prst="rect">
            <a:avLst/>
          </a:prstGeom>
        </p:spPr>
      </p:pic>
    </p:spTree>
    <p:extLst>
      <p:ext uri="{BB962C8B-B14F-4D97-AF65-F5344CB8AC3E}">
        <p14:creationId xmlns:p14="http://schemas.microsoft.com/office/powerpoint/2010/main" val="1616623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936CB-A9E0-D26C-DA5D-B648BBF3EB13}"/>
              </a:ext>
            </a:extLst>
          </p:cNvPr>
          <p:cNvSpPr>
            <a:spLocks noGrp="1"/>
          </p:cNvSpPr>
          <p:nvPr>
            <p:ph type="title"/>
          </p:nvPr>
        </p:nvSpPr>
        <p:spPr>
          <a:xfrm>
            <a:off x="835742" y="534765"/>
            <a:ext cx="3923071" cy="1097392"/>
          </a:xfrm>
        </p:spPr>
        <p:txBody>
          <a:bodyPr/>
          <a:lstStyle/>
          <a:p>
            <a:r>
              <a:rPr lang="en-IN" dirty="0"/>
              <a:t>conclusion</a:t>
            </a:r>
          </a:p>
        </p:txBody>
      </p:sp>
      <p:sp>
        <p:nvSpPr>
          <p:cNvPr id="3" name="Content Placeholder 2">
            <a:extLst>
              <a:ext uri="{FF2B5EF4-FFF2-40B4-BE49-F238E27FC236}">
                <a16:creationId xmlns:a16="http://schemas.microsoft.com/office/drawing/2014/main" id="{0100D506-F1BF-E9F4-29B0-47421FFA8208}"/>
              </a:ext>
            </a:extLst>
          </p:cNvPr>
          <p:cNvSpPr>
            <a:spLocks noGrp="1"/>
          </p:cNvSpPr>
          <p:nvPr>
            <p:ph idx="1"/>
          </p:nvPr>
        </p:nvSpPr>
        <p:spPr>
          <a:xfrm>
            <a:off x="526896" y="1632156"/>
            <a:ext cx="8534400" cy="4566538"/>
          </a:xfrm>
        </p:spPr>
        <p:txBody>
          <a:bodyPr>
            <a:normAutofit/>
          </a:bodyPr>
          <a:lstStyle/>
          <a:p>
            <a:r>
              <a:rPr lang="en-US" dirty="0"/>
              <a:t>Revenue Peak: Total sales of ₹71.77M was achieved, with a record peak of ₹26.27M in April 2022.</a:t>
            </a:r>
          </a:p>
          <a:p>
            <a:r>
              <a:rPr lang="en-US" dirty="0"/>
              <a:t>Top Sellers: 'Sets' and 'Kurtas' dominate the market, contributing over 75% of total orders.</a:t>
            </a:r>
          </a:p>
          <a:p>
            <a:r>
              <a:rPr lang="en-US" dirty="0"/>
              <a:t>Operational Loss: Business growth is hindered by a 14.22% cancellation rate, primarily affecting high-value transactions.</a:t>
            </a:r>
          </a:p>
          <a:p>
            <a:r>
              <a:rPr lang="en-US" dirty="0"/>
              <a:t>Customer Profile: Demand is strictly retail (99.3% B2C), with Maharashtra and Karnataka as the highest revenue clusters.</a:t>
            </a:r>
          </a:p>
          <a:p>
            <a:r>
              <a:rPr lang="en-US" dirty="0"/>
              <a:t>Logistics Gap: 69.78% of orders are Merchant-fulfilled, showing a clear need to scale Amazon FBA for faster delivery.</a:t>
            </a:r>
            <a:endParaRPr lang="en-IN" dirty="0"/>
          </a:p>
        </p:txBody>
      </p:sp>
    </p:spTree>
    <p:extLst>
      <p:ext uri="{BB962C8B-B14F-4D97-AF65-F5344CB8AC3E}">
        <p14:creationId xmlns:p14="http://schemas.microsoft.com/office/powerpoint/2010/main" val="1019381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30C28-F76B-2D76-CBD1-887BC8B681FA}"/>
              </a:ext>
            </a:extLst>
          </p:cNvPr>
          <p:cNvSpPr>
            <a:spLocks noGrp="1"/>
          </p:cNvSpPr>
          <p:nvPr>
            <p:ph type="title"/>
          </p:nvPr>
        </p:nvSpPr>
        <p:spPr>
          <a:xfrm>
            <a:off x="825910" y="515101"/>
            <a:ext cx="5594555" cy="1028564"/>
          </a:xfrm>
        </p:spPr>
        <p:txBody>
          <a:bodyPr/>
          <a:lstStyle/>
          <a:p>
            <a:r>
              <a:rPr lang="en-US" dirty="0"/>
              <a:t>Recommendations</a:t>
            </a:r>
            <a:endParaRPr lang="en-IN" dirty="0"/>
          </a:p>
        </p:txBody>
      </p:sp>
      <p:sp>
        <p:nvSpPr>
          <p:cNvPr id="3" name="Content Placeholder 2">
            <a:extLst>
              <a:ext uri="{FF2B5EF4-FFF2-40B4-BE49-F238E27FC236}">
                <a16:creationId xmlns:a16="http://schemas.microsoft.com/office/drawing/2014/main" id="{518B6E99-DAAA-16D5-3705-8D79FB970016}"/>
              </a:ext>
            </a:extLst>
          </p:cNvPr>
          <p:cNvSpPr>
            <a:spLocks noGrp="1"/>
          </p:cNvSpPr>
          <p:nvPr>
            <p:ph idx="1"/>
          </p:nvPr>
        </p:nvSpPr>
        <p:spPr>
          <a:xfrm>
            <a:off x="684212" y="1543665"/>
            <a:ext cx="8534400" cy="4140474"/>
          </a:xfrm>
        </p:spPr>
        <p:txBody>
          <a:bodyPr/>
          <a:lstStyle/>
          <a:p>
            <a:r>
              <a:rPr lang="en-US" dirty="0"/>
              <a:t>Implement High-Value Order Verification: With a cancellation rate of 14.2 %, the business should introduce an automated IVR or SMS verification for orders above ₹1,000. This will reduce "Return to Origin" (RTO) costs and improve the net realization of the ₹71.77M total sales.</a:t>
            </a:r>
          </a:p>
          <a:p>
            <a:r>
              <a:rPr lang="en-US" dirty="0"/>
              <a:t>Inventory Optimization for Top Regions: Geographical analysis shows Maharashtra, Karnataka, and Tamil Nadu as the highest revenue contributors. To ensure faster delivery and lower cancellations, the business should prioritize stock in regional fulfillment centers located in these specific clusters.</a:t>
            </a:r>
            <a:endParaRPr lang="en-IN" dirty="0"/>
          </a:p>
        </p:txBody>
      </p:sp>
    </p:spTree>
    <p:extLst>
      <p:ext uri="{BB962C8B-B14F-4D97-AF65-F5344CB8AC3E}">
        <p14:creationId xmlns:p14="http://schemas.microsoft.com/office/powerpoint/2010/main" val="1319180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EEB772-FB6C-F70C-9653-90B4013BB9A8}"/>
              </a:ext>
            </a:extLst>
          </p:cNvPr>
          <p:cNvSpPr>
            <a:spLocks noGrp="1"/>
          </p:cNvSpPr>
          <p:nvPr>
            <p:ph idx="1"/>
          </p:nvPr>
        </p:nvSpPr>
        <p:spPr>
          <a:xfrm>
            <a:off x="684212" y="685800"/>
            <a:ext cx="8534400" cy="5469194"/>
          </a:xfrm>
        </p:spPr>
        <p:txBody>
          <a:bodyPr/>
          <a:lstStyle/>
          <a:p>
            <a:r>
              <a:rPr lang="en-US" dirty="0"/>
              <a:t>Scale Amazon FBA for Key Categories: Currently, 69.78% of orders are Merchant-fulfilled. Since the 'Expedited' service level is already high at 83K orders, transitioning top-selling categories like 'Set' and 'Kurta' to Amazon FBA will enhance customer trust and improve overall delivery performance.</a:t>
            </a:r>
          </a:p>
          <a:p>
            <a:r>
              <a:rPr lang="en-US" dirty="0"/>
              <a:t>Cross-Selling and Product Bundling: The dashboard shows that 'Set' is your highest revenue generator (₹36M), while ‘Kurta’ and 'Western Dress' are secondary.</a:t>
            </a:r>
          </a:p>
          <a:p>
            <a:r>
              <a:rPr lang="en-US" dirty="0"/>
              <a:t>Action: Launch "Complete the Look" bundles by pairing lower-selling categories (Tops/Western Dress) with high-performing 'Sets' at a discounted bundle price. This will help clear slower-moving inventory and increase the Average Order Value (currently ₹596.47).</a:t>
            </a:r>
            <a:endParaRPr lang="en-IN" dirty="0"/>
          </a:p>
        </p:txBody>
      </p:sp>
    </p:spTree>
    <p:extLst>
      <p:ext uri="{BB962C8B-B14F-4D97-AF65-F5344CB8AC3E}">
        <p14:creationId xmlns:p14="http://schemas.microsoft.com/office/powerpoint/2010/main" val="1136785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C46644-7A9A-5F9C-01FF-B30C259B1F6C}"/>
              </a:ext>
            </a:extLst>
          </p:cNvPr>
          <p:cNvSpPr>
            <a:spLocks noGrp="1"/>
          </p:cNvSpPr>
          <p:nvPr>
            <p:ph type="ctrTitle"/>
          </p:nvPr>
        </p:nvSpPr>
        <p:spPr>
          <a:xfrm>
            <a:off x="2723536" y="983226"/>
            <a:ext cx="5309419" cy="1189704"/>
          </a:xfrm>
        </p:spPr>
        <p:txBody>
          <a:bodyPr/>
          <a:lstStyle/>
          <a:p>
            <a:pPr algn="ctr"/>
            <a:r>
              <a:rPr lang="en-IN" dirty="0"/>
              <a:t>Thank you</a:t>
            </a:r>
          </a:p>
        </p:txBody>
      </p:sp>
      <p:sp>
        <p:nvSpPr>
          <p:cNvPr id="5" name="Subtitle 4">
            <a:extLst>
              <a:ext uri="{FF2B5EF4-FFF2-40B4-BE49-F238E27FC236}">
                <a16:creationId xmlns:a16="http://schemas.microsoft.com/office/drawing/2014/main" id="{863D6481-B2AD-5AF9-62C5-1555F46E8E2D}"/>
              </a:ext>
            </a:extLst>
          </p:cNvPr>
          <p:cNvSpPr>
            <a:spLocks noGrp="1"/>
          </p:cNvSpPr>
          <p:nvPr>
            <p:ph type="subTitle" idx="1"/>
          </p:nvPr>
        </p:nvSpPr>
        <p:spPr>
          <a:xfrm>
            <a:off x="753037" y="3205317"/>
            <a:ext cx="9098885" cy="1406012"/>
          </a:xfrm>
        </p:spPr>
        <p:txBody>
          <a:bodyPr>
            <a:normAutofit/>
          </a:bodyPr>
          <a:lstStyle/>
          <a:p>
            <a:r>
              <a:rPr lang="en-IN" dirty="0"/>
              <a:t>Email-Id – </a:t>
            </a:r>
            <a:r>
              <a:rPr lang="en-IN" u="sng" dirty="0">
                <a:hlinkClick r:id="rId2"/>
              </a:rPr>
              <a:t>komalchahal2632@gmail.com</a:t>
            </a:r>
            <a:endParaRPr lang="en-IN" u="sng" dirty="0"/>
          </a:p>
          <a:p>
            <a:r>
              <a:rPr lang="en-IN" dirty="0"/>
              <a:t>Linkedin Id -  </a:t>
            </a:r>
            <a:r>
              <a:rPr lang="en-IN" dirty="0">
                <a:hlinkClick r:id="rId3"/>
              </a:rPr>
              <a:t>https://www.linkedin.com/in/komal-chahal-242024244/</a:t>
            </a:r>
            <a:endParaRPr lang="en-IN" dirty="0"/>
          </a:p>
          <a:p>
            <a:r>
              <a:rPr lang="en-IN" dirty="0"/>
              <a:t>Github Id </a:t>
            </a:r>
            <a:r>
              <a:rPr lang="en-IN" dirty="0">
                <a:hlinkClick r:id="rId4"/>
              </a:rPr>
              <a:t>https:/github.com/komalchahal</a:t>
            </a:r>
            <a:endParaRPr lang="en-IN" dirty="0"/>
          </a:p>
        </p:txBody>
      </p:sp>
    </p:spTree>
    <p:extLst>
      <p:ext uri="{BB962C8B-B14F-4D97-AF65-F5344CB8AC3E}">
        <p14:creationId xmlns:p14="http://schemas.microsoft.com/office/powerpoint/2010/main" val="204986559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528</TotalTime>
  <Words>1070</Words>
  <Application>Microsoft Office PowerPoint</Application>
  <PresentationFormat>Widescreen</PresentationFormat>
  <Paragraphs>66</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Calibri</vt:lpstr>
      <vt:lpstr>Century Gothic</vt:lpstr>
      <vt:lpstr>Wingdings 3</vt:lpstr>
      <vt:lpstr>Slice</vt:lpstr>
      <vt:lpstr>Ecommerce Operation &amp; Sales Performance Analytics</vt:lpstr>
      <vt:lpstr>COMPANY BACKGROUND</vt:lpstr>
      <vt:lpstr>Pr0blem statement</vt:lpstr>
      <vt:lpstr>Project Objective :</vt:lpstr>
      <vt:lpstr>Technical tools &amp; DAX Formulas</vt:lpstr>
      <vt:lpstr>Dashboard Overview</vt:lpstr>
      <vt:lpstr>PowerPoint Presentation</vt:lpstr>
      <vt:lpstr>PowerPoint Presentation</vt:lpstr>
      <vt:lpstr>PowerPoint Presentation</vt:lpstr>
      <vt:lpstr>PowerPoint Presentation</vt:lpstr>
      <vt:lpstr>PowerPoint Presentation</vt:lpstr>
      <vt:lpstr>conclusion</vt:lpstr>
      <vt:lpstr>Recommendations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komal chahal</dc:creator>
  <cp:lastModifiedBy>komal chahal</cp:lastModifiedBy>
  <cp:revision>13</cp:revision>
  <dcterms:created xsi:type="dcterms:W3CDTF">2026-03-03T14:09:14Z</dcterms:created>
  <dcterms:modified xsi:type="dcterms:W3CDTF">2026-03-21T11:57:50Z</dcterms:modified>
</cp:coreProperties>
</file>